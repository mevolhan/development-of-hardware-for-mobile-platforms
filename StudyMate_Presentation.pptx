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D99EA-9DFE-33DF-5784-EB75560F8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1F48B3-E4E0-4294-B259-38C3851D2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8687AA-20C6-51B8-2A08-430D091C6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391DB5-19FF-5E09-AF04-6E954D42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5E8BE9-DFE7-3499-D2F5-E5D17F09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375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7AC0C-CEA0-F2F3-1B67-5C25F0037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069FB0-5B9A-650B-3493-8FD40EC23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12DC57-8AE7-7A45-2EBF-EFE21FCC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90B5A-AB48-5D61-D0EF-842F4CB6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B9E8D3-E880-5CE5-2104-7FEB19D1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67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A4ED0-1862-2494-78C3-870D7391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65625D-6B91-18A9-1E56-3CF90128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0EDDFA-588F-919E-80E7-D5E99089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6AF703-87AE-983C-F060-2D53B182D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953000-4426-E7A8-2F89-5E08BAEF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53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C994A6-E8AB-B822-276A-5E52B6366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5300CD-9D27-F0CD-479C-48E070C8F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FCD93-AAFF-54AD-C848-E7063ED23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4011E5-F8FA-868C-83B7-06A72A58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B2F971-3961-7CB0-8AFA-2A0B0631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0B1383-5B2F-4085-0F3A-8FCD45D4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319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FF4B1-A95F-CFB1-E353-2A6BF8E93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FCC416-5256-5710-3E94-A052DD70B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B24DC9-DC59-5A17-557D-5F6FAE139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51F644-F2E0-24B6-EA88-2B319F812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3AAE38E-1620-DD57-3133-F694CFC89D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D243A3-DE33-E39A-7AC4-A031F393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E90469C-4578-2FE2-0D4C-5DFDBB1DD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081B76-F731-AA57-DAF8-44BDD2492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915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391E3-34DF-A2B8-8D76-2C3F4C2BA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8D20A41-3A7C-3286-E737-D3430467B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21FE41-7C7B-D95F-5886-0646E6DD3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BEA35C-33BD-4A4B-E418-9B2260D7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40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AD338E-69B8-64F5-8279-D49E1005A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D45652F-F830-7EAC-4575-C7DA87B46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14268B-DD02-3D6A-46B7-C482E277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0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82B15-3971-8391-31AA-E3432FE2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12E834-84C5-74C4-11EC-DE1ABB1EA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1DEF68-34D1-70DA-AB08-331976DF6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51BA01-0519-0742-CF7F-CD221BED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00C4BC-5D97-01FF-12A5-964F1C29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A80301-5BA3-F853-AE04-FBBD1198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1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EE5C48-6B12-8B0A-2DFD-37E67C0E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940C560-EAA3-E871-1B5E-CA8142C02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E83616-ADAD-B747-D7E4-0203D17B1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B5C7F7-DC01-E730-A6DB-FF9F1637C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5796EE-1B9B-E6FD-1187-5993DC34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4F890A-3680-33E6-D32F-5D1897366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8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CAA21-9827-847B-C23B-7A9620D69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C6BA21-2CDF-FC10-A9E6-BD39FC047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EA3857-4E34-68D7-9683-453EB6EA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3D5344-87CD-2D55-B9B4-60B40095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3CEB38-CCA3-CFBD-11B6-76452DE3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61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70D469-F90E-3A8B-54A0-54C608082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6E710E-1724-1BAA-8570-9C1093916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669F42-2B26-B012-F105-E2CBAAB13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0EE610-20BE-2ED9-7E45-63B2F5D0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671B60-BBAB-4EA2-09EA-301499C2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02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FD58A-E658-3956-3903-854AB0577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BA7CCE-B5AB-A243-A735-95AADA226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40088D-8317-22C7-26F6-A024D86C1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0CF1E-7D18-4C84-9FAF-680BC9C05A94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14EFA6-D097-1000-47FA-4700596C6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C43A72-B7E1-F06D-E7BE-861734775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740C0-BEAD-4499-A742-4765F57E8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38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AB7D9B-69F7-8263-DAD3-FCD33D3CF197}"/>
              </a:ext>
            </a:extLst>
          </p:cNvPr>
          <p:cNvSpPr txBox="1"/>
          <p:nvPr/>
        </p:nvSpPr>
        <p:spPr>
          <a:xfrm>
            <a:off x="736600" y="685800"/>
            <a:ext cx="2794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81818B"/>
                </a:solidFill>
                <a:latin typeface="Aptos" panose="020B0004020202020204" pitchFamily="34" charset="0"/>
              </a:rPr>
              <a:t>StudyMate</a:t>
            </a:r>
            <a:endParaRPr lang="ru-RU" sz="3000" b="1">
              <a:solidFill>
                <a:srgbClr val="81818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F3B1C-539E-CA4F-5D0D-EFF92F7F13DE}"/>
              </a:ext>
            </a:extLst>
          </p:cNvPr>
          <p:cNvSpPr txBox="1"/>
          <p:nvPr/>
        </p:nvSpPr>
        <p:spPr>
          <a:xfrm>
            <a:off x="736600" y="1244600"/>
            <a:ext cx="4445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dirty="0">
                <a:solidFill>
                  <a:srgbClr val="81818B"/>
                </a:solidFill>
                <a:latin typeface="Aptos" panose="020B0004020202020204" pitchFamily="34" charset="0"/>
              </a:rPr>
              <a:t>Мобильное приложение для управления учебными задачами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69FC4-4A2B-420D-A496-672869126437}"/>
              </a:ext>
            </a:extLst>
          </p:cNvPr>
          <p:cNvSpPr txBox="1"/>
          <p:nvPr/>
        </p:nvSpPr>
        <p:spPr>
          <a:xfrm>
            <a:off x="736600" y="2286000"/>
            <a:ext cx="279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600">
                <a:solidFill>
                  <a:srgbClr val="81818B"/>
                </a:solidFill>
                <a:latin typeface="Aptos" panose="020B0004020202020204" pitchFamily="34" charset="0"/>
              </a:rPr>
              <a:t>Презентация проекта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336DBF-A658-A780-DD8F-7FEF0BE57BFC}"/>
              </a:ext>
            </a:extLst>
          </p:cNvPr>
          <p:cNvSpPr txBox="1"/>
          <p:nvPr/>
        </p:nvSpPr>
        <p:spPr>
          <a:xfrm>
            <a:off x="736600" y="2590800"/>
            <a:ext cx="355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81818B"/>
                </a:solidFill>
                <a:latin typeface="Aptos" panose="020B0004020202020204" pitchFamily="34" charset="0"/>
              </a:rPr>
              <a:t>Kotlin | Jetpack Compose | Android</a:t>
            </a:r>
            <a:endParaRPr lang="ru-RU" sz="1300">
              <a:solidFill>
                <a:srgbClr val="81818B"/>
              </a:solidFill>
              <a:latin typeface="Aptos" panose="020B00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7AC40F-2A26-D480-3376-D7313B45017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0" y="431800"/>
            <a:ext cx="2730500" cy="5918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FD404B-5E28-CE94-5CCE-C80539F195CF}"/>
              </a:ext>
            </a:extLst>
          </p:cNvPr>
          <p:cNvSpPr txBox="1"/>
          <p:nvPr/>
        </p:nvSpPr>
        <p:spPr>
          <a:xfrm>
            <a:off x="406400" y="3530600"/>
            <a:ext cx="6858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dirty="0">
                <a:solidFill>
                  <a:srgbClr val="81818B"/>
                </a:solidFill>
                <a:latin typeface="Aptos" panose="020B0004020202020204" pitchFamily="34" charset="0"/>
              </a:rPr>
              <a:t>Назначение приложения: помочь студенту держать под контролем дедлайны, задачи и прогресс по учебным направлениям.</a:t>
            </a:r>
          </a:p>
        </p:txBody>
      </p:sp>
    </p:spTree>
    <p:extLst>
      <p:ext uri="{BB962C8B-B14F-4D97-AF65-F5344CB8AC3E}">
        <p14:creationId xmlns:p14="http://schemas.microsoft.com/office/powerpoint/2010/main" val="2667254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C3D1A2-5BBC-3E9C-BF90-60BF325DC7E0}"/>
              </a:ext>
            </a:extLst>
          </p:cNvPr>
          <p:cNvSpPr txBox="1"/>
          <p:nvPr/>
        </p:nvSpPr>
        <p:spPr>
          <a:xfrm>
            <a:off x="406400" y="254000"/>
            <a:ext cx="10922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600" b="1">
                <a:solidFill>
                  <a:srgbClr val="81818B"/>
                </a:solidFill>
                <a:latin typeface="Aptos" panose="020B0004020202020204" pitchFamily="34" charset="0"/>
              </a:rPr>
              <a:t>Что представляет собой приложение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D9BF2-BF0C-A1AE-164A-AE05A1F098BA}"/>
              </a:ext>
            </a:extLst>
          </p:cNvPr>
          <p:cNvSpPr txBox="1"/>
          <p:nvPr/>
        </p:nvSpPr>
        <p:spPr>
          <a:xfrm>
            <a:off x="406400" y="7112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300">
                <a:solidFill>
                  <a:srgbClr val="81818B"/>
                </a:solidFill>
                <a:latin typeface="Aptos" panose="020B0004020202020204" pitchFamily="34" charset="0"/>
              </a:rPr>
              <a:t>Краткий обзор идеи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5521B5-BCC1-8340-CD9E-88213DFCD3E8}"/>
              </a:ext>
            </a:extLst>
          </p:cNvPr>
          <p:cNvSpPr/>
          <p:nvPr/>
        </p:nvSpPr>
        <p:spPr>
          <a:xfrm>
            <a:off x="406400" y="1219200"/>
            <a:ext cx="5334000" cy="381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8181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42C3659-C25C-5E59-F554-C2E6B1C231C2}"/>
              </a:ext>
            </a:extLst>
          </p:cNvPr>
          <p:cNvSpPr/>
          <p:nvPr/>
        </p:nvSpPr>
        <p:spPr>
          <a:xfrm>
            <a:off x="6096000" y="1219200"/>
            <a:ext cx="5689600" cy="381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8181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83C6D-3B0F-58C5-B9EF-F1ED251EB698}"/>
              </a:ext>
            </a:extLst>
          </p:cNvPr>
          <p:cNvSpPr txBox="1"/>
          <p:nvPr/>
        </p:nvSpPr>
        <p:spPr>
          <a:xfrm>
            <a:off x="711200" y="1524000"/>
            <a:ext cx="152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200" b="1">
                <a:solidFill>
                  <a:srgbClr val="81818B"/>
                </a:solidFill>
                <a:latin typeface="Aptos" panose="020B0004020202020204" pitchFamily="34" charset="0"/>
              </a:rPr>
              <a:t>Идея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D7537-0847-CC28-DA94-E0E13D5DFC70}"/>
              </a:ext>
            </a:extLst>
          </p:cNvPr>
          <p:cNvSpPr txBox="1"/>
          <p:nvPr/>
        </p:nvSpPr>
        <p:spPr>
          <a:xfrm>
            <a:off x="711200" y="2032000"/>
            <a:ext cx="4724400" cy="24519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000">
                <a:solidFill>
                  <a:srgbClr val="81818B"/>
                </a:solidFill>
                <a:latin typeface="Aptos" panose="020B0004020202020204" pitchFamily="34" charset="0"/>
              </a:rPr>
              <a:t>StudyMate - это учебный планировщик для студента.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000">
                <a:solidFill>
                  <a:srgbClr val="81818B"/>
                </a:solidFill>
                <a:latin typeface="Aptos" panose="020B0004020202020204" pitchFamily="34" charset="0"/>
              </a:rPr>
              <a:t>Он объединяет задачи, дедлайны, прогресс и простую аналитику.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000">
                <a:solidFill>
                  <a:srgbClr val="81818B"/>
                </a:solidFill>
                <a:latin typeface="Aptos" panose="020B0004020202020204" pitchFamily="34" charset="0"/>
              </a:rPr>
              <a:t>Приложение рассчитано на быстрый ежедневный контроль учебной нагрузки.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F422A5-7161-87A7-F175-8772C71D3CCD}"/>
              </a:ext>
            </a:extLst>
          </p:cNvPr>
          <p:cNvSpPr txBox="1"/>
          <p:nvPr/>
        </p:nvSpPr>
        <p:spPr>
          <a:xfrm>
            <a:off x="6334124" y="1354722"/>
            <a:ext cx="5045075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200" b="1" dirty="0">
                <a:solidFill>
                  <a:srgbClr val="81818B"/>
                </a:solidFill>
                <a:latin typeface="Aptos" panose="020B0004020202020204" pitchFamily="34" charset="0"/>
              </a:rPr>
              <a:t>Сценарий использования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4FEB4C-03C6-1148-6C0D-AF2F67F8069B}"/>
              </a:ext>
            </a:extLst>
          </p:cNvPr>
          <p:cNvSpPr txBox="1"/>
          <p:nvPr/>
        </p:nvSpPr>
        <p:spPr>
          <a:xfrm>
            <a:off x="6400800" y="2032000"/>
            <a:ext cx="4978400" cy="2759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000" dirty="0">
                <a:solidFill>
                  <a:srgbClr val="81818B"/>
                </a:solidFill>
                <a:latin typeface="Aptos" panose="020B0004020202020204" pitchFamily="34" charset="0"/>
              </a:rPr>
              <a:t>Пользователь открывает приложение и сразу видит текущую учебную картину.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000" dirty="0">
                <a:solidFill>
                  <a:srgbClr val="81818B"/>
                </a:solidFill>
                <a:latin typeface="Aptos" panose="020B0004020202020204" pitchFamily="34" charset="0"/>
              </a:rPr>
              <a:t>Далее он просматривает задачи, отмечает выполненные и добавляет новые.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000" dirty="0">
                <a:solidFill>
                  <a:srgbClr val="81818B"/>
                </a:solidFill>
                <a:latin typeface="Aptos" panose="020B0004020202020204" pitchFamily="34" charset="0"/>
              </a:rPr>
              <a:t>На экране статистики можно оценить темп выполнения и приоритеты.</a:t>
            </a:r>
          </a:p>
        </p:txBody>
      </p:sp>
    </p:spTree>
    <p:extLst>
      <p:ext uri="{BB962C8B-B14F-4D97-AF65-F5344CB8AC3E}">
        <p14:creationId xmlns:p14="http://schemas.microsoft.com/office/powerpoint/2010/main" val="187129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20F1E4-F54B-17DF-EBB2-295A5DA47DB3}"/>
              </a:ext>
            </a:extLst>
          </p:cNvPr>
          <p:cNvSpPr txBox="1"/>
          <p:nvPr/>
        </p:nvSpPr>
        <p:spPr>
          <a:xfrm>
            <a:off x="406400" y="254000"/>
            <a:ext cx="10922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600" b="1">
                <a:solidFill>
                  <a:srgbClr val="81818B"/>
                </a:solidFill>
                <a:latin typeface="Aptos" panose="020B0004020202020204" pitchFamily="34" charset="0"/>
              </a:rPr>
              <a:t>Средства разработки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C28D8E-7401-98F6-0EBE-82016D35D8BE}"/>
              </a:ext>
            </a:extLst>
          </p:cNvPr>
          <p:cNvSpPr txBox="1"/>
          <p:nvPr/>
        </p:nvSpPr>
        <p:spPr>
          <a:xfrm>
            <a:off x="406400" y="7112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300">
                <a:solidFill>
                  <a:srgbClr val="81818B"/>
                </a:solidFill>
                <a:latin typeface="Aptos" panose="020B0004020202020204" pitchFamily="34" charset="0"/>
              </a:rPr>
              <a:t>Технологии, использованные в проекте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0F2CD96-F38F-FCAD-0C38-B51BCFECF7F4}"/>
              </a:ext>
            </a:extLst>
          </p:cNvPr>
          <p:cNvSpPr/>
          <p:nvPr/>
        </p:nvSpPr>
        <p:spPr>
          <a:xfrm>
            <a:off x="406400" y="1270000"/>
            <a:ext cx="11379200" cy="375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181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77CDC-C6DB-DB65-B9C9-DFE58F006424}"/>
              </a:ext>
            </a:extLst>
          </p:cNvPr>
          <p:cNvSpPr txBox="1"/>
          <p:nvPr/>
        </p:nvSpPr>
        <p:spPr>
          <a:xfrm>
            <a:off x="762000" y="1651000"/>
            <a:ext cx="10668000" cy="28212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400">
                <a:solidFill>
                  <a:srgbClr val="81818B"/>
                </a:solidFill>
                <a:latin typeface="Aptos" panose="020B0004020202020204" pitchFamily="34" charset="0"/>
              </a:rPr>
              <a:t>Среда разработки: IntelliJ IDEA с поддержкой Android.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400">
                <a:solidFill>
                  <a:srgbClr val="81818B"/>
                </a:solidFill>
                <a:latin typeface="Aptos" panose="020B0004020202020204" pitchFamily="34" charset="0"/>
              </a:rPr>
              <a:t>Язык программирования: </a:t>
            </a:r>
            <a:r>
              <a:rPr lang="en-US" sz="2400">
                <a:solidFill>
                  <a:srgbClr val="81818B"/>
                </a:solidFill>
                <a:latin typeface="Aptos" panose="020B0004020202020204" pitchFamily="34" charset="0"/>
              </a:rPr>
              <a:t>Kotlin.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400">
                <a:solidFill>
                  <a:srgbClr val="81818B"/>
                </a:solidFill>
                <a:latin typeface="Aptos" panose="020B0004020202020204" pitchFamily="34" charset="0"/>
              </a:rPr>
              <a:t>Построение интерфейса: </a:t>
            </a:r>
            <a:r>
              <a:rPr lang="en-US" sz="2400">
                <a:solidFill>
                  <a:srgbClr val="81818B"/>
                </a:solidFill>
                <a:latin typeface="Aptos" panose="020B0004020202020204" pitchFamily="34" charset="0"/>
              </a:rPr>
              <a:t>Jetpack Compose </a:t>
            </a:r>
            <a:r>
              <a:rPr lang="ru-RU" sz="2400">
                <a:solidFill>
                  <a:srgbClr val="81818B"/>
                </a:solidFill>
                <a:latin typeface="Aptos" panose="020B0004020202020204" pitchFamily="34" charset="0"/>
              </a:rPr>
              <a:t>и </a:t>
            </a:r>
            <a:r>
              <a:rPr lang="en-US" sz="2400">
                <a:solidFill>
                  <a:srgbClr val="81818B"/>
                </a:solidFill>
                <a:latin typeface="Aptos" panose="020B0004020202020204" pitchFamily="34" charset="0"/>
              </a:rPr>
              <a:t>Material 3.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400">
                <a:solidFill>
                  <a:srgbClr val="81818B"/>
                </a:solidFill>
                <a:latin typeface="Aptos" panose="020B0004020202020204" pitchFamily="34" charset="0"/>
              </a:rPr>
              <a:t>Система сборки: </a:t>
            </a:r>
            <a:r>
              <a:rPr lang="en-US" sz="2400">
                <a:solidFill>
                  <a:srgbClr val="81818B"/>
                </a:solidFill>
                <a:latin typeface="Aptos" panose="020B0004020202020204" pitchFamily="34" charset="0"/>
              </a:rPr>
              <a:t>Gradle Kotlin DSL.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400">
                <a:solidFill>
                  <a:srgbClr val="81818B"/>
                </a:solidFill>
                <a:latin typeface="Aptos" panose="020B0004020202020204" pitchFamily="34" charset="0"/>
              </a:rPr>
              <a:t>Тестирование и запуск: Android Emulator и ADB.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400">
                <a:solidFill>
                  <a:srgbClr val="81818B"/>
                </a:solidFill>
                <a:latin typeface="Aptos" panose="020B0004020202020204" pitchFamily="34" charset="0"/>
              </a:rPr>
              <a:t>Минимальная поддерживаемая версия Android: API 24.</a:t>
            </a:r>
          </a:p>
        </p:txBody>
      </p:sp>
    </p:spTree>
    <p:extLst>
      <p:ext uri="{BB962C8B-B14F-4D97-AF65-F5344CB8AC3E}">
        <p14:creationId xmlns:p14="http://schemas.microsoft.com/office/powerpoint/2010/main" val="362489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FBD20E-D981-4B63-030B-7A8F7B7B8CEA}"/>
              </a:ext>
            </a:extLst>
          </p:cNvPr>
          <p:cNvSpPr txBox="1"/>
          <p:nvPr/>
        </p:nvSpPr>
        <p:spPr>
          <a:xfrm>
            <a:off x="406400" y="254000"/>
            <a:ext cx="10922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600" b="1">
                <a:solidFill>
                  <a:srgbClr val="81818B"/>
                </a:solidFill>
                <a:latin typeface="Aptos" panose="020B0004020202020204" pitchFamily="34" charset="0"/>
              </a:rPr>
              <a:t>Главный экран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9E062-F925-9B4C-D700-80268B8F7E58}"/>
              </a:ext>
            </a:extLst>
          </p:cNvPr>
          <p:cNvSpPr txBox="1"/>
          <p:nvPr/>
        </p:nvSpPr>
        <p:spPr>
          <a:xfrm>
            <a:off x="406400" y="7112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300">
                <a:solidFill>
                  <a:srgbClr val="81818B"/>
                </a:solidFill>
                <a:latin typeface="Aptos" panose="020B0004020202020204" pitchFamily="34" charset="0"/>
              </a:rPr>
              <a:t>Обзор текущего состояния учебы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99D2F1-EA21-552D-721E-2482479718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68400"/>
            <a:ext cx="2717800" cy="5461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0BF04CF-1C72-3D13-934B-5744643BB087}"/>
              </a:ext>
            </a:extLst>
          </p:cNvPr>
          <p:cNvSpPr/>
          <p:nvPr/>
        </p:nvSpPr>
        <p:spPr>
          <a:xfrm>
            <a:off x="3556000" y="1371600"/>
            <a:ext cx="8128000" cy="3708400"/>
          </a:xfrm>
          <a:prstGeom prst="rect">
            <a:avLst/>
          </a:prstGeom>
          <a:solidFill>
            <a:srgbClr val="FFFFFF"/>
          </a:solidFill>
          <a:ln w="15240">
            <a:solidFill>
              <a:srgbClr val="8181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B21261-BC89-C9EF-1405-873204A040DA}"/>
              </a:ext>
            </a:extLst>
          </p:cNvPr>
          <p:cNvSpPr txBox="1"/>
          <p:nvPr/>
        </p:nvSpPr>
        <p:spPr>
          <a:xfrm>
            <a:off x="3911600" y="1727200"/>
            <a:ext cx="7493000" cy="31085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200">
                <a:solidFill>
                  <a:srgbClr val="81818B"/>
                </a:solidFill>
                <a:latin typeface="Aptos" panose="020B0004020202020204" pitchFamily="34" charset="0"/>
              </a:rPr>
              <a:t>Отображает сводную информацию о количестве активных и выполненных задач.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200">
                <a:solidFill>
                  <a:srgbClr val="81818B"/>
                </a:solidFill>
                <a:latin typeface="Aptos" panose="020B0004020202020204" pitchFamily="34" charset="0"/>
              </a:rPr>
              <a:t>Показывает блок Фокус дня с наиболее важной задачей.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200">
                <a:solidFill>
                  <a:srgbClr val="81818B"/>
                </a:solidFill>
                <a:latin typeface="Aptos" panose="020B0004020202020204" pitchFamily="34" charset="0"/>
              </a:rPr>
              <a:t>Содержит прогресс по учебным направлениям и ближайшие задачи.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200">
                <a:solidFill>
                  <a:srgbClr val="81818B"/>
                </a:solidFill>
                <a:latin typeface="Aptos" panose="020B0004020202020204" pitchFamily="34" charset="0"/>
              </a:rPr>
              <a:t>Через нижнюю навигацию можно перейти к задачам и статистике.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36405-4194-8491-7A44-946A97553965}"/>
              </a:ext>
            </a:extLst>
          </p:cNvPr>
          <p:cNvSpPr txBox="1"/>
          <p:nvPr/>
        </p:nvSpPr>
        <p:spPr>
          <a:xfrm>
            <a:off x="3911600" y="4394200"/>
            <a:ext cx="736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>
                <a:solidFill>
                  <a:srgbClr val="81818B"/>
                </a:solidFill>
                <a:latin typeface="Aptos" panose="020B0004020202020204" pitchFamily="34" charset="0"/>
              </a:rPr>
              <a:t>Этот экран выступает как стартовая панель: пользователь сразу понимает, что важно именно сейчас.</a:t>
            </a:r>
          </a:p>
        </p:txBody>
      </p:sp>
    </p:spTree>
    <p:extLst>
      <p:ext uri="{BB962C8B-B14F-4D97-AF65-F5344CB8AC3E}">
        <p14:creationId xmlns:p14="http://schemas.microsoft.com/office/powerpoint/2010/main" val="349308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2105E-58BB-D417-EEF6-4D1D82AFB02B}"/>
              </a:ext>
            </a:extLst>
          </p:cNvPr>
          <p:cNvSpPr txBox="1"/>
          <p:nvPr/>
        </p:nvSpPr>
        <p:spPr>
          <a:xfrm>
            <a:off x="406400" y="254000"/>
            <a:ext cx="10922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600" b="1">
                <a:solidFill>
                  <a:srgbClr val="81818B"/>
                </a:solidFill>
                <a:latin typeface="Aptos" panose="020B0004020202020204" pitchFamily="34" charset="0"/>
              </a:rPr>
              <a:t>Работа с задачами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5897D-171A-7AB7-7BCC-C84150C19709}"/>
              </a:ext>
            </a:extLst>
          </p:cNvPr>
          <p:cNvSpPr txBox="1"/>
          <p:nvPr/>
        </p:nvSpPr>
        <p:spPr>
          <a:xfrm>
            <a:off x="406400" y="7112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300">
                <a:solidFill>
                  <a:srgbClr val="81818B"/>
                </a:solidFill>
                <a:latin typeface="Aptos" panose="020B0004020202020204" pitchFamily="34" charset="0"/>
              </a:rPr>
              <a:t>Список задач и добавление новой записи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3FD38C-BCA2-34CD-DF66-E5635C47CE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68400"/>
            <a:ext cx="2336800" cy="5461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399CD7-7DB8-7D0D-01AD-B00884B9D3E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200" y="1168400"/>
            <a:ext cx="2336800" cy="5461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AD75077-E442-9279-C3E6-245161476203}"/>
              </a:ext>
            </a:extLst>
          </p:cNvPr>
          <p:cNvSpPr/>
          <p:nvPr/>
        </p:nvSpPr>
        <p:spPr>
          <a:xfrm>
            <a:off x="5664200" y="1397000"/>
            <a:ext cx="6045200" cy="3708400"/>
          </a:xfrm>
          <a:prstGeom prst="rect">
            <a:avLst/>
          </a:prstGeom>
          <a:solidFill>
            <a:srgbClr val="FFFFFF"/>
          </a:solidFill>
          <a:ln w="15240">
            <a:solidFill>
              <a:srgbClr val="8181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02C8A-C21C-EB24-D292-D2758EC24225}"/>
              </a:ext>
            </a:extLst>
          </p:cNvPr>
          <p:cNvSpPr txBox="1"/>
          <p:nvPr/>
        </p:nvSpPr>
        <p:spPr>
          <a:xfrm>
            <a:off x="5969000" y="1752600"/>
            <a:ext cx="5461000" cy="30315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1900">
                <a:solidFill>
                  <a:srgbClr val="81818B"/>
                </a:solidFill>
                <a:latin typeface="Aptos" panose="020B0004020202020204" pitchFamily="34" charset="0"/>
              </a:rPr>
              <a:t>Экран задач поддерживает фильтры: все, сегодня, активные и готово.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1900">
                <a:solidFill>
                  <a:srgbClr val="81818B"/>
                </a:solidFill>
                <a:latin typeface="Aptos" panose="020B0004020202020204" pitchFamily="34" charset="0"/>
              </a:rPr>
              <a:t>Нажатием по карточке задача отмечается выполненной.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1900">
                <a:solidFill>
                  <a:srgbClr val="81818B"/>
                </a:solidFill>
                <a:latin typeface="Aptos" panose="020B0004020202020204" pitchFamily="34" charset="0"/>
              </a:rPr>
              <a:t>Кнопка Новая задача открывает отдельную форму добавления.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1900">
                <a:solidFill>
                  <a:srgbClr val="81818B"/>
                </a:solidFill>
                <a:latin typeface="Aptos" panose="020B0004020202020204" pitchFamily="34" charset="0"/>
              </a:rPr>
              <a:t>Для новой задачи можно указать название, учебный блок, дедлайн, длительность и приоритет.</a:t>
            </a:r>
          </a:p>
        </p:txBody>
      </p:sp>
    </p:spTree>
    <p:extLst>
      <p:ext uri="{BB962C8B-B14F-4D97-AF65-F5344CB8AC3E}">
        <p14:creationId xmlns:p14="http://schemas.microsoft.com/office/powerpoint/2010/main" val="581386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69D3B5-728D-DA35-64A5-2814C7E52F40}"/>
              </a:ext>
            </a:extLst>
          </p:cNvPr>
          <p:cNvSpPr txBox="1"/>
          <p:nvPr/>
        </p:nvSpPr>
        <p:spPr>
          <a:xfrm>
            <a:off x="406400" y="254000"/>
            <a:ext cx="10922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600" b="1">
                <a:solidFill>
                  <a:srgbClr val="81818B"/>
                </a:solidFill>
                <a:latin typeface="Aptos" panose="020B0004020202020204" pitchFamily="34" charset="0"/>
              </a:rPr>
              <a:t>Экран статистики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F5EDA-8179-15F8-6527-956F83C1465B}"/>
              </a:ext>
            </a:extLst>
          </p:cNvPr>
          <p:cNvSpPr txBox="1"/>
          <p:nvPr/>
        </p:nvSpPr>
        <p:spPr>
          <a:xfrm>
            <a:off x="406400" y="7112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300">
                <a:solidFill>
                  <a:srgbClr val="81818B"/>
                </a:solidFill>
                <a:latin typeface="Aptos" panose="020B0004020202020204" pitchFamily="34" charset="0"/>
              </a:rPr>
              <a:t>Простая аналитика по учебной нагрузке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980040-4FC5-B4D6-3351-BCE3B0E93F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68400"/>
            <a:ext cx="2717800" cy="5461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569626-FDEB-7E78-F8B9-039C97B4732F}"/>
              </a:ext>
            </a:extLst>
          </p:cNvPr>
          <p:cNvSpPr/>
          <p:nvPr/>
        </p:nvSpPr>
        <p:spPr>
          <a:xfrm>
            <a:off x="3556000" y="1371600"/>
            <a:ext cx="8128000" cy="3708400"/>
          </a:xfrm>
          <a:prstGeom prst="rect">
            <a:avLst/>
          </a:prstGeom>
          <a:solidFill>
            <a:srgbClr val="FFFFFF"/>
          </a:solidFill>
          <a:ln w="15240">
            <a:solidFill>
              <a:srgbClr val="8181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8BCEF-E30C-279B-6593-506E28EAA6A5}"/>
              </a:ext>
            </a:extLst>
          </p:cNvPr>
          <p:cNvSpPr txBox="1"/>
          <p:nvPr/>
        </p:nvSpPr>
        <p:spPr>
          <a:xfrm>
            <a:off x="3911600" y="1727200"/>
            <a:ext cx="7493000" cy="24314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200">
                <a:solidFill>
                  <a:srgbClr val="81818B"/>
                </a:solidFill>
                <a:latin typeface="Aptos" panose="020B0004020202020204" pitchFamily="34" charset="0"/>
              </a:rPr>
              <a:t>Показывает общий процент завершения задач.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200">
                <a:solidFill>
                  <a:srgbClr val="81818B"/>
                </a:solidFill>
                <a:latin typeface="Aptos" panose="020B0004020202020204" pitchFamily="34" charset="0"/>
              </a:rPr>
              <a:t>Отдельно считает срочные задачи и задачи на сегодня.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200">
                <a:solidFill>
                  <a:srgbClr val="81818B"/>
                </a:solidFill>
                <a:latin typeface="Aptos" panose="020B0004020202020204" pitchFamily="34" charset="0"/>
              </a:rPr>
              <a:t>Оценивает оставшуюся нагрузку по времени.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200">
                <a:solidFill>
                  <a:srgbClr val="81818B"/>
                </a:solidFill>
                <a:latin typeface="Aptos" panose="020B0004020202020204" pitchFamily="34" charset="0"/>
              </a:rPr>
              <a:t>Разбивает задачи по приоритетам: высокий, средний и низкий.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732F2-7C92-943A-9A1E-ADB7EA100650}"/>
              </a:ext>
            </a:extLst>
          </p:cNvPr>
          <p:cNvSpPr txBox="1"/>
          <p:nvPr/>
        </p:nvSpPr>
        <p:spPr>
          <a:xfrm>
            <a:off x="3911600" y="4394200"/>
            <a:ext cx="736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>
                <a:solidFill>
                  <a:srgbClr val="81818B"/>
                </a:solidFill>
                <a:latin typeface="Aptos" panose="020B0004020202020204" pitchFamily="34" charset="0"/>
              </a:rPr>
              <a:t>Такой экран помогает быстро понять, насколько равномерно распределена учебная нагрузка.</a:t>
            </a:r>
          </a:p>
        </p:txBody>
      </p:sp>
    </p:spTree>
    <p:extLst>
      <p:ext uri="{BB962C8B-B14F-4D97-AF65-F5344CB8AC3E}">
        <p14:creationId xmlns:p14="http://schemas.microsoft.com/office/powerpoint/2010/main" val="1339359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80B31D-60FB-6850-E3D1-7598ACD59816}"/>
              </a:ext>
            </a:extLst>
          </p:cNvPr>
          <p:cNvSpPr txBox="1"/>
          <p:nvPr/>
        </p:nvSpPr>
        <p:spPr>
          <a:xfrm>
            <a:off x="406400" y="254000"/>
            <a:ext cx="10922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600" b="1">
                <a:solidFill>
                  <a:srgbClr val="81818B"/>
                </a:solidFill>
                <a:latin typeface="Aptos" panose="020B0004020202020204" pitchFamily="34" charset="0"/>
              </a:rPr>
              <a:t>Что умеет приложение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47193-7EB5-4271-E0A6-F8D6BA812001}"/>
              </a:ext>
            </a:extLst>
          </p:cNvPr>
          <p:cNvSpPr txBox="1"/>
          <p:nvPr/>
        </p:nvSpPr>
        <p:spPr>
          <a:xfrm>
            <a:off x="406400" y="7112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300">
                <a:solidFill>
                  <a:srgbClr val="81818B"/>
                </a:solidFill>
                <a:latin typeface="Aptos" panose="020B0004020202020204" pitchFamily="34" charset="0"/>
              </a:rPr>
              <a:t>Основные возможности текущей версии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B9C7D31-F50B-8272-D8A4-5F87387C2AF7}"/>
              </a:ext>
            </a:extLst>
          </p:cNvPr>
          <p:cNvSpPr/>
          <p:nvPr/>
        </p:nvSpPr>
        <p:spPr>
          <a:xfrm>
            <a:off x="406400" y="1219200"/>
            <a:ext cx="11379200" cy="391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8181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F114F-7B6B-5662-A6B4-97615705A2FD}"/>
              </a:ext>
            </a:extLst>
          </p:cNvPr>
          <p:cNvSpPr txBox="1"/>
          <p:nvPr/>
        </p:nvSpPr>
        <p:spPr>
          <a:xfrm>
            <a:off x="736600" y="1625600"/>
            <a:ext cx="10693400" cy="30828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300">
                <a:solidFill>
                  <a:srgbClr val="81818B"/>
                </a:solidFill>
                <a:latin typeface="Aptos" panose="020B0004020202020204" pitchFamily="34" charset="0"/>
              </a:rPr>
              <a:t>Хранит и отображает список учебных задач в рамках текущего запуска приложения.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300">
                <a:solidFill>
                  <a:srgbClr val="81818B"/>
                </a:solidFill>
                <a:latin typeface="Aptos" panose="020B0004020202020204" pitchFamily="34" charset="0"/>
              </a:rPr>
              <a:t>Позволяет добавлять новые задачи с ключевыми параметрами.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300">
                <a:solidFill>
                  <a:srgbClr val="81818B"/>
                </a:solidFill>
                <a:latin typeface="Aptos" panose="020B0004020202020204" pitchFamily="34" charset="0"/>
              </a:rPr>
              <a:t>Поддерживает приоритеты и группы по срокам выполнения.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300">
                <a:solidFill>
                  <a:srgbClr val="81818B"/>
                </a:solidFill>
                <a:latin typeface="Aptos" panose="020B0004020202020204" pitchFamily="34" charset="0"/>
              </a:rPr>
              <a:t>Фильтрует задачи по состоянию и актуальности.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300">
                <a:solidFill>
                  <a:srgbClr val="81818B"/>
                </a:solidFill>
                <a:latin typeface="Aptos" panose="020B0004020202020204" pitchFamily="34" charset="0"/>
              </a:rPr>
              <a:t>Показывает прогресс по учебным направлениям.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300">
                <a:solidFill>
                  <a:srgbClr val="81818B"/>
                </a:solidFill>
                <a:latin typeface="Aptos" panose="020B0004020202020204" pitchFamily="34" charset="0"/>
              </a:rPr>
              <a:t>Дает краткую статистику по выполнению и временной нагрузке.</a:t>
            </a:r>
          </a:p>
        </p:txBody>
      </p:sp>
    </p:spTree>
    <p:extLst>
      <p:ext uri="{BB962C8B-B14F-4D97-AF65-F5344CB8AC3E}">
        <p14:creationId xmlns:p14="http://schemas.microsoft.com/office/powerpoint/2010/main" val="1781794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5342D-D38C-AD4C-3093-11897B4E5AB8}"/>
              </a:ext>
            </a:extLst>
          </p:cNvPr>
          <p:cNvSpPr txBox="1"/>
          <p:nvPr/>
        </p:nvSpPr>
        <p:spPr>
          <a:xfrm>
            <a:off x="406400" y="254000"/>
            <a:ext cx="10922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600" b="1">
                <a:solidFill>
                  <a:srgbClr val="81818B"/>
                </a:solidFill>
                <a:latin typeface="Aptos" panose="020B0004020202020204" pitchFamily="34" charset="0"/>
              </a:rPr>
              <a:t>Итог и перспективы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5CA04-1905-464C-971B-BBA2FCA282C8}"/>
              </a:ext>
            </a:extLst>
          </p:cNvPr>
          <p:cNvSpPr txBox="1"/>
          <p:nvPr/>
        </p:nvSpPr>
        <p:spPr>
          <a:xfrm>
            <a:off x="406400" y="7112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300">
                <a:solidFill>
                  <a:srgbClr val="81818B"/>
                </a:solidFill>
                <a:latin typeface="Aptos" panose="020B0004020202020204" pitchFamily="34" charset="0"/>
              </a:rPr>
              <a:t>Что можно развивать дальше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9411F-B42C-EE46-C050-6599F8056320}"/>
              </a:ext>
            </a:extLst>
          </p:cNvPr>
          <p:cNvSpPr txBox="1"/>
          <p:nvPr/>
        </p:nvSpPr>
        <p:spPr>
          <a:xfrm>
            <a:off x="584200" y="1422400"/>
            <a:ext cx="11049000" cy="33547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400">
                <a:solidFill>
                  <a:srgbClr val="81818B"/>
                </a:solidFill>
                <a:latin typeface="Aptos" panose="020B0004020202020204" pitchFamily="34" charset="0"/>
              </a:rPr>
              <a:t>Проект уже представляет собой готовый мобильный прототип с современным интерфейсом.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400">
                <a:solidFill>
                  <a:srgbClr val="81818B"/>
                </a:solidFill>
                <a:latin typeface="Aptos" panose="020B0004020202020204" pitchFamily="34" charset="0"/>
              </a:rPr>
              <a:t>Приложение решает понятную задачу: помогает организовать учебный процесс.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400">
                <a:solidFill>
                  <a:srgbClr val="81818B"/>
                </a:solidFill>
                <a:latin typeface="Aptos" panose="020B0004020202020204" pitchFamily="34" charset="0"/>
              </a:rPr>
              <a:t>В дальнейшем можно добавить базу данных Room для постоянного хранения задач.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ru-RU" sz="2400">
                <a:solidFill>
                  <a:srgbClr val="81818B"/>
                </a:solidFill>
                <a:latin typeface="Aptos" panose="020B0004020202020204" pitchFamily="34" charset="0"/>
              </a:rPr>
              <a:t>Также можно реализовать уведомления, календарь и синхронизацию с облаком.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0A7899E-4FF5-7EB0-8275-5A15D67AE97E}"/>
              </a:ext>
            </a:extLst>
          </p:cNvPr>
          <p:cNvSpPr/>
          <p:nvPr/>
        </p:nvSpPr>
        <p:spPr>
          <a:xfrm>
            <a:off x="584200" y="3987800"/>
            <a:ext cx="11049000" cy="111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8181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9C286-1D6D-B0B4-E387-25A5282F6DAC}"/>
              </a:ext>
            </a:extLst>
          </p:cNvPr>
          <p:cNvSpPr txBox="1"/>
          <p:nvPr/>
        </p:nvSpPr>
        <p:spPr>
          <a:xfrm>
            <a:off x="914400" y="4292600"/>
            <a:ext cx="10414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200" b="1">
                <a:solidFill>
                  <a:srgbClr val="81818B"/>
                </a:solidFill>
                <a:latin typeface="Aptos" panose="020B0004020202020204" pitchFamily="34" charset="0"/>
              </a:rPr>
              <a:t>StudyMate - это наглядный и понятный учебный помощник, который можно расширить в полноценное Android-приложение.</a:t>
            </a:r>
          </a:p>
        </p:txBody>
      </p:sp>
    </p:spTree>
    <p:extLst>
      <p:ext uri="{BB962C8B-B14F-4D97-AF65-F5344CB8AC3E}">
        <p14:creationId xmlns:p14="http://schemas.microsoft.com/office/powerpoint/2010/main" val="28017016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Широкоэкранный</PresentationFormat>
  <Paragraphs>58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 Yndaw</dc:creator>
  <cp:lastModifiedBy>Danil Yndaw</cp:lastModifiedBy>
  <cp:revision>2</cp:revision>
  <dcterms:created xsi:type="dcterms:W3CDTF">2026-04-13T19:50:43Z</dcterms:created>
  <dcterms:modified xsi:type="dcterms:W3CDTF">2026-04-13T19:53:24Z</dcterms:modified>
</cp:coreProperties>
</file>